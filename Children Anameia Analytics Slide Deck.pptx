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265" autoAdjust="0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12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085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study: the relationship between maternal education, household wealth, and childhood anemia in Nigeria, using NDHS 2018.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stage: anemia is a major child health burden, it impairs development, and socioeconomic factors like maternal education and wealth plausibly shape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questions drive the study. Emphasise why this matters: it directs where policymakers and NGOs should focus limited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data source, the population, the variables used, and the overall size of the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 from raw NDHS data to interpretation. Note the cleaning steps and the analytical techniques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first finding: non-anemic share rises with maternal education, from 12.18% (no education) to 22.42% (higher education). Drop your Power BI stacked column chart into the placeholder.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second finding: non-anemic share rises with household wealth, from 11.60% (poorest) to 22.71% (richest). Drop your Power BI stacked column chart into the placeholder.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four headline insights before moving to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Translate findings into action for two audiences: government and health NGOs.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argument: education and socioeconomic improvement are levers for reducing childhood anemia in Nigeria.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17" Type="http://schemas.openxmlformats.org/officeDocument/2006/relationships/image" Target="../media/image35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11" Type="http://schemas.openxmlformats.org/officeDocument/2006/relationships/image" Target="../media/image29.svg"/><Relationship Id="rId5" Type="http://schemas.openxmlformats.org/officeDocument/2006/relationships/image" Target="../media/image23.png"/><Relationship Id="rId15" Type="http://schemas.openxmlformats.org/officeDocument/2006/relationships/image" Target="../media/image33.svg"/><Relationship Id="rId10" Type="http://schemas.openxmlformats.org/officeDocument/2006/relationships/image" Target="../media/image28.png"/><Relationship Id="rId4" Type="http://schemas.openxmlformats.org/officeDocument/2006/relationships/image" Target="../media/image22.svg"/><Relationship Id="rId9" Type="http://schemas.openxmlformats.org/officeDocument/2006/relationships/image" Target="../media/image27.svg"/><Relationship Id="rId14" Type="http://schemas.openxmlformats.org/officeDocument/2006/relationships/image" Target="../media/image3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svg"/><Relationship Id="rId5" Type="http://schemas.openxmlformats.org/officeDocument/2006/relationships/image" Target="../media/image38.png"/><Relationship Id="rId4" Type="http://schemas.openxmlformats.org/officeDocument/2006/relationships/image" Target="../media/image4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svg"/><Relationship Id="rId5" Type="http://schemas.openxmlformats.org/officeDocument/2006/relationships/image" Target="../media/image46.svg"/><Relationship Id="rId4" Type="http://schemas.openxmlformats.org/officeDocument/2006/relationships/image" Target="../media/image4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1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82500" y="6096000"/>
            <a:ext cx="5905500" cy="419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2795826"/>
            <a:ext cx="434082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00" dirty="0">
                <a:solidFill>
                  <a:srgbClr val="7FD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HEALTH RESEARCH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497675" y="2815243"/>
            <a:ext cx="162702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NDHS 2018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3397806"/>
            <a:ext cx="13992083" cy="1601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128"/>
              </a:lnSpc>
              <a:buNone/>
            </a:pPr>
            <a:r>
              <a:rPr lang="en-US" sz="5700" b="1" kern="0" spc="-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Maternal Education, Household Wealth &amp; Childhood Anemia in Nigeria</a:t>
            </a:r>
            <a:endParaRPr lang="en-US" sz="5700" dirty="0"/>
          </a:p>
        </p:txBody>
      </p:sp>
      <p:sp>
        <p:nvSpPr>
          <p:cNvPr id="7" name="Text 4"/>
          <p:cNvSpPr/>
          <p:nvPr/>
        </p:nvSpPr>
        <p:spPr>
          <a:xfrm>
            <a:off x="1047750" y="5247084"/>
            <a:ext cx="12153900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909"/>
              </a:lnSpc>
              <a:buNone/>
            </a:pPr>
            <a:r>
              <a:rPr lang="en-US" sz="2850" dirty="0">
                <a:solidFill>
                  <a:srgbClr val="B7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analysis using the 2018 Nigeria Demographic and Health Survey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1047750" y="6420564"/>
            <a:ext cx="28614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0E9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47750" y="6755845"/>
            <a:ext cx="286140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Ejeh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Ehi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Oluwa-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Tosin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47750" y="7190184"/>
            <a:ext cx="286140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&amp; AI Student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4258628" y="6420564"/>
            <a:ext cx="9525" cy="1089660"/>
          </a:xfrm>
          <a:prstGeom prst="rect">
            <a:avLst/>
          </a:prstGeom>
          <a:solidFill>
            <a:srgbClr val="22384F"/>
          </a:solidFill>
          <a:ln/>
        </p:spPr>
      </p:sp>
      <p:sp>
        <p:nvSpPr>
          <p:cNvPr id="12" name="Text 9"/>
          <p:cNvSpPr/>
          <p:nvPr/>
        </p:nvSpPr>
        <p:spPr>
          <a:xfrm>
            <a:off x="4877753" y="6420564"/>
            <a:ext cx="221664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0E9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877753" y="6755845"/>
            <a:ext cx="2216646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&amp; AI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4877753" y="7190184"/>
            <a:ext cx="221664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3686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0E9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397317" y="958215"/>
            <a:ext cx="381000" cy="19050"/>
          </a:xfrm>
          <a:prstGeom prst="rect">
            <a:avLst/>
          </a:prstGeom>
          <a:solidFill>
            <a:srgbClr val="0E9B6C"/>
          </a:solidFill>
          <a:ln/>
        </p:spPr>
      </p:sp>
      <p:sp>
        <p:nvSpPr>
          <p:cNvPr id="4" name="Text 2"/>
          <p:cNvSpPr/>
          <p:nvPr/>
        </p:nvSpPr>
        <p:spPr>
          <a:xfrm>
            <a:off x="1930717" y="838200"/>
            <a:ext cx="211671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249680"/>
            <a:ext cx="180213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570"/>
              </a:lnSpc>
              <a:buNone/>
            </a:pPr>
            <a:r>
              <a:rPr lang="en-US" sz="4500" b="1" kern="0" spc="-37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Childhood anemia in context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952500" y="2021205"/>
            <a:ext cx="13342620" cy="1446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385"/>
              </a:lnSpc>
              <a:buNone/>
            </a:pPr>
            <a:r>
              <a:rPr lang="en-US" sz="2550" dirty="0">
                <a:solidFill>
                  <a:srgbClr val="3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major public health challenge that impairs a child's growth, cognitive development, immunity, and survival — and one that may be shaped by a family's social and economic conditions.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52500" y="3925253"/>
            <a:ext cx="5257800" cy="2769870"/>
          </a:xfrm>
          <a:prstGeom prst="roundRect">
            <a:avLst>
              <a:gd name="adj" fmla="val 6878"/>
            </a:avLst>
          </a:prstGeom>
          <a:solidFill>
            <a:srgbClr val="F4F7FA"/>
          </a:solidFill>
          <a:ln w="7620">
            <a:solidFill>
              <a:srgbClr val="E4EA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03020" y="4313872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E7F5EF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64945" y="4475797"/>
            <a:ext cx="304800" cy="304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03020" y="5190173"/>
            <a:ext cx="501243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condition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303020" y="5613082"/>
            <a:ext cx="469346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973"/>
              </a:lnSpc>
              <a:buNone/>
            </a:pPr>
            <a:r>
              <a:rPr lang="en-US" sz="19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Anemia weakens immunity and slows early childhood development.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6515100" y="3925253"/>
            <a:ext cx="5257800" cy="2769870"/>
          </a:xfrm>
          <a:prstGeom prst="roundRect">
            <a:avLst>
              <a:gd name="adj" fmla="val 6878"/>
            </a:avLst>
          </a:prstGeom>
          <a:solidFill>
            <a:srgbClr val="F4F7FA"/>
          </a:solidFill>
          <a:ln w="7620">
            <a:solidFill>
              <a:srgbClr val="E4EA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65620" y="4313872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E7F5E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27545" y="4475797"/>
            <a:ext cx="304800" cy="304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65620" y="5190173"/>
            <a:ext cx="501243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Maternal education</a:t>
            </a:r>
            <a:endParaRPr lang="en-US" sz="2250" dirty="0"/>
          </a:p>
        </p:txBody>
      </p:sp>
      <p:sp>
        <p:nvSpPr>
          <p:cNvPr id="16" name="Text 12"/>
          <p:cNvSpPr/>
          <p:nvPr/>
        </p:nvSpPr>
        <p:spPr>
          <a:xfrm>
            <a:off x="6865620" y="5613082"/>
            <a:ext cx="469346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973"/>
              </a:lnSpc>
              <a:buNone/>
            </a:pPr>
            <a:r>
              <a:rPr lang="en-US" sz="19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mother's schooling can shape a child's nutrition and care.</a:t>
            </a:r>
            <a:endParaRPr lang="en-US" sz="1950" dirty="0"/>
          </a:p>
        </p:txBody>
      </p:sp>
      <p:sp>
        <p:nvSpPr>
          <p:cNvPr id="17" name="Shape 13"/>
          <p:cNvSpPr/>
          <p:nvPr/>
        </p:nvSpPr>
        <p:spPr>
          <a:xfrm>
            <a:off x="12077700" y="3925253"/>
            <a:ext cx="5257800" cy="2769870"/>
          </a:xfrm>
          <a:prstGeom prst="roundRect">
            <a:avLst>
              <a:gd name="adj" fmla="val 6878"/>
            </a:avLst>
          </a:prstGeom>
          <a:solidFill>
            <a:srgbClr val="F4F7FA"/>
          </a:solidFill>
          <a:ln w="7620">
            <a:solidFill>
              <a:srgbClr val="E4EA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2428220" y="4313872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E7F5EF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90145" y="4475797"/>
            <a:ext cx="304800" cy="3048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428220" y="5190173"/>
            <a:ext cx="501243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 wealth</a:t>
            </a:r>
            <a:endParaRPr lang="en-US" sz="2250" dirty="0"/>
          </a:p>
        </p:txBody>
      </p:sp>
      <p:sp>
        <p:nvSpPr>
          <p:cNvPr id="21" name="Text 16"/>
          <p:cNvSpPr/>
          <p:nvPr/>
        </p:nvSpPr>
        <p:spPr>
          <a:xfrm>
            <a:off x="12428220" y="5613082"/>
            <a:ext cx="469346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973"/>
              </a:lnSpc>
              <a:buNone/>
            </a:pPr>
            <a:r>
              <a:rPr lang="en-US" sz="19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status affects access to food, care, and clean living.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3686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0E9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397317" y="958215"/>
            <a:ext cx="381000" cy="19050"/>
          </a:xfrm>
          <a:prstGeom prst="rect">
            <a:avLst/>
          </a:prstGeom>
          <a:solidFill>
            <a:srgbClr val="0E9B6C"/>
          </a:solidFill>
          <a:ln/>
        </p:spPr>
      </p:sp>
      <p:sp>
        <p:nvSpPr>
          <p:cNvPr id="4" name="Text 2"/>
          <p:cNvSpPr/>
          <p:nvPr/>
        </p:nvSpPr>
        <p:spPr>
          <a:xfrm>
            <a:off x="1930717" y="838200"/>
            <a:ext cx="351402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249680"/>
            <a:ext cx="180213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570"/>
              </a:lnSpc>
              <a:buNone/>
            </a:pPr>
            <a:r>
              <a:rPr lang="en-US" sz="4500" b="1" kern="0" spc="-37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study asks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952500" y="2268855"/>
            <a:ext cx="8029575" cy="2659380"/>
          </a:xfrm>
          <a:prstGeom prst="roundRect">
            <a:avLst>
              <a:gd name="adj" fmla="val 7880"/>
            </a:avLst>
          </a:prstGeom>
          <a:solidFill>
            <a:srgbClr val="0C1B2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767965"/>
            <a:ext cx="937974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E9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2423874" y="2726055"/>
            <a:ext cx="571500" cy="571500"/>
          </a:xfrm>
          <a:prstGeom prst="roundRect">
            <a:avLst>
              <a:gd name="adj" fmla="val 25000"/>
            </a:avLst>
          </a:prstGeom>
          <a:solidFill>
            <a:srgbClr val="16324A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6749" y="2868930"/>
            <a:ext cx="285750" cy="2857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3564255"/>
            <a:ext cx="7407116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58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a mother's educational level relate to child anemia?</a:t>
            </a:r>
            <a:endParaRPr lang="en-US" sz="2550" dirty="0"/>
          </a:p>
        </p:txBody>
      </p:sp>
      <p:sp>
        <p:nvSpPr>
          <p:cNvPr id="11" name="Shape 8"/>
          <p:cNvSpPr/>
          <p:nvPr/>
        </p:nvSpPr>
        <p:spPr>
          <a:xfrm>
            <a:off x="9305925" y="2268855"/>
            <a:ext cx="8029575" cy="2659380"/>
          </a:xfrm>
          <a:prstGeom prst="roundRect">
            <a:avLst>
              <a:gd name="adj" fmla="val 7880"/>
            </a:avLst>
          </a:prstGeom>
          <a:solidFill>
            <a:srgbClr val="0C1B2E"/>
          </a:solidFill>
          <a:ln/>
        </p:spPr>
      </p:sp>
      <p:sp>
        <p:nvSpPr>
          <p:cNvPr id="12" name="Text 9"/>
          <p:cNvSpPr/>
          <p:nvPr/>
        </p:nvSpPr>
        <p:spPr>
          <a:xfrm>
            <a:off x="9725025" y="2767965"/>
            <a:ext cx="937974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E9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</a:t>
            </a:r>
            <a:endParaRPr lang="en-US" sz="3300" dirty="0"/>
          </a:p>
        </p:txBody>
      </p:sp>
      <p:sp>
        <p:nvSpPr>
          <p:cNvPr id="13" name="Shape 10"/>
          <p:cNvSpPr/>
          <p:nvPr/>
        </p:nvSpPr>
        <p:spPr>
          <a:xfrm>
            <a:off x="10777299" y="2726055"/>
            <a:ext cx="571500" cy="571500"/>
          </a:xfrm>
          <a:prstGeom prst="roundRect">
            <a:avLst>
              <a:gd name="adj" fmla="val 25000"/>
            </a:avLst>
          </a:prstGeom>
          <a:solidFill>
            <a:srgbClr val="16324A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20174" y="2868930"/>
            <a:ext cx="285750" cy="2857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725025" y="3564255"/>
            <a:ext cx="7407116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58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the household wealth index relate to child anemia?</a:t>
            </a:r>
            <a:endParaRPr lang="en-US" sz="2550" dirty="0"/>
          </a:p>
        </p:txBody>
      </p:sp>
      <p:sp>
        <p:nvSpPr>
          <p:cNvPr id="16" name="Shape 12"/>
          <p:cNvSpPr/>
          <p:nvPr/>
        </p:nvSpPr>
        <p:spPr>
          <a:xfrm>
            <a:off x="952500" y="5309235"/>
            <a:ext cx="16383000" cy="1504950"/>
          </a:xfrm>
          <a:prstGeom prst="roundRect">
            <a:avLst>
              <a:gd name="adj" fmla="val 12658"/>
            </a:avLst>
          </a:prstGeom>
          <a:solidFill>
            <a:srgbClr val="E7F5EF"/>
          </a:solidFill>
          <a:ln/>
        </p:spPr>
      </p:sp>
      <p:sp>
        <p:nvSpPr>
          <p:cNvPr id="17" name="Shape 13"/>
          <p:cNvSpPr/>
          <p:nvPr/>
        </p:nvSpPr>
        <p:spPr>
          <a:xfrm>
            <a:off x="1371600" y="5775960"/>
            <a:ext cx="571500" cy="571500"/>
          </a:xfrm>
          <a:prstGeom prst="roundRect">
            <a:avLst>
              <a:gd name="adj" fmla="val 25000"/>
            </a:avLst>
          </a:prstGeom>
          <a:solidFill>
            <a:srgbClr val="0E9B6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4475" y="5918835"/>
            <a:ext cx="285750" cy="2857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209800" y="5671185"/>
            <a:ext cx="15147798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2175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 </a:t>
            </a:r>
            <a:r>
              <a:rPr lang="en-US" sz="2175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guide policymakers and health NGOs on where to target education, nutrition, and poverty-reduction programs for the greatest impact on child health.</a:t>
            </a:r>
            <a:endParaRPr lang="en-US" sz="21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3686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0E9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397317" y="958215"/>
            <a:ext cx="381000" cy="19050"/>
          </a:xfrm>
          <a:prstGeom prst="rect">
            <a:avLst/>
          </a:prstGeom>
          <a:solidFill>
            <a:srgbClr val="0E9B6C"/>
          </a:solidFill>
          <a:ln/>
        </p:spPr>
      </p:sp>
      <p:sp>
        <p:nvSpPr>
          <p:cNvPr id="4" name="Text 2"/>
          <p:cNvSpPr/>
          <p:nvPr/>
        </p:nvSpPr>
        <p:spPr>
          <a:xfrm>
            <a:off x="1930717" y="838200"/>
            <a:ext cx="211095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249680"/>
            <a:ext cx="180213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570"/>
              </a:lnSpc>
              <a:buNone/>
            </a:pPr>
            <a:r>
              <a:rPr lang="en-US" sz="4500" b="1" kern="0" spc="-37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dataset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952500" y="2230755"/>
            <a:ext cx="5257800" cy="2552700"/>
          </a:xfrm>
          <a:prstGeom prst="roundRect">
            <a:avLst>
              <a:gd name="adj" fmla="val 7463"/>
            </a:avLst>
          </a:prstGeom>
          <a:solidFill>
            <a:srgbClr val="F4F7FA"/>
          </a:solidFill>
          <a:ln w="7620">
            <a:solidFill>
              <a:srgbClr val="E4EA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3970" y="2581275"/>
            <a:ext cx="571500" cy="571500"/>
          </a:xfrm>
          <a:prstGeom prst="roundRect">
            <a:avLst>
              <a:gd name="adj" fmla="val 25000"/>
            </a:avLst>
          </a:prstGeom>
          <a:solidFill>
            <a:srgbClr val="E7F5E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6845" y="2724150"/>
            <a:ext cx="285750" cy="2857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3970" y="3362325"/>
            <a:ext cx="505434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0E9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83970" y="3697605"/>
            <a:ext cx="473270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3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 Demographic &amp; Health Survey (NDHS 2018)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6515100" y="2230755"/>
            <a:ext cx="5257800" cy="2552700"/>
          </a:xfrm>
          <a:prstGeom prst="roundRect">
            <a:avLst>
              <a:gd name="adj" fmla="val 7463"/>
            </a:avLst>
          </a:prstGeom>
          <a:solidFill>
            <a:srgbClr val="F4F7FA"/>
          </a:solidFill>
          <a:ln w="7620">
            <a:solidFill>
              <a:srgbClr val="E4EA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46570" y="2581275"/>
            <a:ext cx="571500" cy="571500"/>
          </a:xfrm>
          <a:prstGeom prst="roundRect">
            <a:avLst>
              <a:gd name="adj" fmla="val 25000"/>
            </a:avLst>
          </a:prstGeom>
          <a:solidFill>
            <a:srgbClr val="E7F5E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9445" y="2724150"/>
            <a:ext cx="285750" cy="2857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46570" y="3362325"/>
            <a:ext cx="505434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0E9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846570" y="3697605"/>
            <a:ext cx="473270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3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aged 0–59 months; mothers aged 15–49 years</a:t>
            </a:r>
            <a:endParaRPr lang="en-US" sz="2025" dirty="0"/>
          </a:p>
        </p:txBody>
      </p:sp>
      <p:sp>
        <p:nvSpPr>
          <p:cNvPr id="16" name="Shape 12"/>
          <p:cNvSpPr/>
          <p:nvPr/>
        </p:nvSpPr>
        <p:spPr>
          <a:xfrm>
            <a:off x="12077700" y="2230755"/>
            <a:ext cx="5257800" cy="2552700"/>
          </a:xfrm>
          <a:prstGeom prst="roundRect">
            <a:avLst>
              <a:gd name="adj" fmla="val 7463"/>
            </a:avLst>
          </a:prstGeom>
          <a:solidFill>
            <a:srgbClr val="F4F7FA"/>
          </a:solidFill>
          <a:ln w="7620">
            <a:solidFill>
              <a:srgbClr val="E4EA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2409170" y="2581275"/>
            <a:ext cx="571500" cy="571500"/>
          </a:xfrm>
          <a:prstGeom prst="roundRect">
            <a:avLst>
              <a:gd name="adj" fmla="val 25000"/>
            </a:avLst>
          </a:prstGeom>
          <a:solidFill>
            <a:srgbClr val="E7F5E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52045" y="2724150"/>
            <a:ext cx="285750" cy="2857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409170" y="3362325"/>
            <a:ext cx="505434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0E9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2409170" y="3697605"/>
            <a:ext cx="4732706" cy="773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Independent: </a:t>
            </a:r>
            <a:r>
              <a:rPr lang="en-US" sz="2025" dirty="0">
                <a:solidFill>
                  <a:srgbClr val="3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education, wealth · </a:t>
            </a:r>
            <a:r>
              <a:rPr lang="en-US" sz="2025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Dependent: </a:t>
            </a:r>
            <a:r>
              <a:rPr lang="en-US" sz="2025" dirty="0">
                <a:solidFill>
                  <a:srgbClr val="3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anemia status</a:t>
            </a:r>
            <a:endParaRPr lang="en-US" sz="2025" dirty="0"/>
          </a:p>
        </p:txBody>
      </p:sp>
      <p:sp>
        <p:nvSpPr>
          <p:cNvPr id="21" name="Shape 16"/>
          <p:cNvSpPr/>
          <p:nvPr/>
        </p:nvSpPr>
        <p:spPr>
          <a:xfrm>
            <a:off x="952500" y="5107305"/>
            <a:ext cx="5257800" cy="1748790"/>
          </a:xfrm>
          <a:prstGeom prst="roundRect">
            <a:avLst>
              <a:gd name="adj" fmla="val 10893"/>
            </a:avLst>
          </a:prstGeom>
          <a:solidFill>
            <a:srgbClr val="0C1B2E"/>
          </a:solidFill>
          <a:ln/>
        </p:spPr>
      </p:sp>
      <p:sp>
        <p:nvSpPr>
          <p:cNvPr id="22" name="Text 17"/>
          <p:cNvSpPr/>
          <p:nvPr/>
        </p:nvSpPr>
        <p:spPr>
          <a:xfrm>
            <a:off x="1333500" y="5450205"/>
            <a:ext cx="49453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379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33,924</a:t>
            </a:r>
            <a:endParaRPr lang="en-US" sz="5400" dirty="0"/>
          </a:p>
        </p:txBody>
      </p:sp>
      <p:sp>
        <p:nvSpPr>
          <p:cNvPr id="23" name="Text 18"/>
          <p:cNvSpPr/>
          <p:nvPr/>
        </p:nvSpPr>
        <p:spPr>
          <a:xfrm>
            <a:off x="1333500" y="6193155"/>
            <a:ext cx="494538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records</a:t>
            </a:r>
            <a:endParaRPr lang="en-US" sz="1950" dirty="0"/>
          </a:p>
        </p:txBody>
      </p:sp>
      <p:sp>
        <p:nvSpPr>
          <p:cNvPr id="24" name="Shape 19"/>
          <p:cNvSpPr/>
          <p:nvPr/>
        </p:nvSpPr>
        <p:spPr>
          <a:xfrm>
            <a:off x="6515100" y="5107305"/>
            <a:ext cx="5257800" cy="1748790"/>
          </a:xfrm>
          <a:prstGeom prst="roundRect">
            <a:avLst>
              <a:gd name="adj" fmla="val 10893"/>
            </a:avLst>
          </a:prstGeom>
          <a:solidFill>
            <a:srgbClr val="0C1B2E"/>
          </a:solidFill>
          <a:ln/>
        </p:spPr>
      </p:sp>
      <p:sp>
        <p:nvSpPr>
          <p:cNvPr id="25" name="Text 20"/>
          <p:cNvSpPr/>
          <p:nvPr/>
        </p:nvSpPr>
        <p:spPr>
          <a:xfrm>
            <a:off x="6896100" y="5450205"/>
            <a:ext cx="49453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379"/>
              </a:lnSpc>
              <a:buNone/>
            </a:pPr>
            <a:r>
              <a:rPr lang="en-US" sz="5400" b="1" dirty="0">
                <a:solidFill>
                  <a:srgbClr val="7FD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400" dirty="0"/>
          </a:p>
        </p:txBody>
      </p:sp>
      <p:sp>
        <p:nvSpPr>
          <p:cNvPr id="26" name="Text 21"/>
          <p:cNvSpPr/>
          <p:nvPr/>
        </p:nvSpPr>
        <p:spPr>
          <a:xfrm>
            <a:off x="6896100" y="6193155"/>
            <a:ext cx="494538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categories</a:t>
            </a:r>
            <a:endParaRPr lang="en-US" sz="1950" dirty="0"/>
          </a:p>
        </p:txBody>
      </p:sp>
      <p:sp>
        <p:nvSpPr>
          <p:cNvPr id="27" name="Shape 22"/>
          <p:cNvSpPr/>
          <p:nvPr/>
        </p:nvSpPr>
        <p:spPr>
          <a:xfrm>
            <a:off x="12077700" y="5107305"/>
            <a:ext cx="5257800" cy="1748790"/>
          </a:xfrm>
          <a:prstGeom prst="roundRect">
            <a:avLst>
              <a:gd name="adj" fmla="val 10893"/>
            </a:avLst>
          </a:prstGeom>
          <a:solidFill>
            <a:srgbClr val="0C1B2E"/>
          </a:solidFill>
          <a:ln/>
        </p:spPr>
      </p:sp>
      <p:sp>
        <p:nvSpPr>
          <p:cNvPr id="28" name="Text 23"/>
          <p:cNvSpPr/>
          <p:nvPr/>
        </p:nvSpPr>
        <p:spPr>
          <a:xfrm>
            <a:off x="12458700" y="5450205"/>
            <a:ext cx="49453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379"/>
              </a:lnSpc>
              <a:buNone/>
            </a:pPr>
            <a:r>
              <a:rPr lang="en-US" sz="5400" b="1" dirty="0">
                <a:solidFill>
                  <a:srgbClr val="7FD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400" dirty="0"/>
          </a:p>
        </p:txBody>
      </p:sp>
      <p:sp>
        <p:nvSpPr>
          <p:cNvPr id="29" name="Text 24"/>
          <p:cNvSpPr/>
          <p:nvPr/>
        </p:nvSpPr>
        <p:spPr>
          <a:xfrm>
            <a:off x="12458700" y="6193155"/>
            <a:ext cx="494538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 categories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3686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0E9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397317" y="882015"/>
            <a:ext cx="381000" cy="19050"/>
          </a:xfrm>
          <a:prstGeom prst="rect">
            <a:avLst/>
          </a:prstGeom>
          <a:solidFill>
            <a:srgbClr val="0E9B6C"/>
          </a:solidFill>
          <a:ln/>
        </p:spPr>
      </p:sp>
      <p:sp>
        <p:nvSpPr>
          <p:cNvPr id="4" name="Text 2"/>
          <p:cNvSpPr/>
          <p:nvPr/>
        </p:nvSpPr>
        <p:spPr>
          <a:xfrm>
            <a:off x="1930717" y="762000"/>
            <a:ext cx="232980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173480"/>
            <a:ext cx="180213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570"/>
              </a:lnSpc>
              <a:buNone/>
            </a:pPr>
            <a:r>
              <a:rPr lang="en-US" sz="4500" b="1" kern="0" spc="-37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data to insight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952500" y="2154555"/>
            <a:ext cx="2804160" cy="1962150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 w="7620">
            <a:solidFill>
              <a:srgbClr val="E4EA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78355" y="2447925"/>
            <a:ext cx="552450" cy="552450"/>
          </a:xfrm>
          <a:prstGeom prst="roundRect">
            <a:avLst>
              <a:gd name="adj" fmla="val 25862"/>
            </a:avLst>
          </a:prstGeom>
          <a:solidFill>
            <a:srgbClr val="E7F5E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1230" y="2590800"/>
            <a:ext cx="26670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3906" y="3133725"/>
            <a:ext cx="174123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NDHS dataset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506426" y="3549015"/>
            <a:ext cx="169630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survey data</a:t>
            </a:r>
            <a:endParaRPr lang="en-US" sz="16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90010" y="2973705"/>
            <a:ext cx="323850" cy="32385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47210" y="2154555"/>
            <a:ext cx="2804160" cy="1962150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 w="7620">
            <a:solidFill>
              <a:srgbClr val="E4EA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73065" y="2447925"/>
            <a:ext cx="552450" cy="552450"/>
          </a:xfrm>
          <a:prstGeom prst="roundRect">
            <a:avLst>
              <a:gd name="adj" fmla="val 25862"/>
            </a:avLst>
          </a:prstGeom>
          <a:solidFill>
            <a:srgbClr val="E7F5E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15940" y="2590800"/>
            <a:ext cx="266700" cy="2667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16329" y="3133725"/>
            <a:ext cx="166592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5386268" y="3568065"/>
            <a:ext cx="932645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6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84720" y="2973705"/>
            <a:ext cx="323850" cy="32385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741920" y="2154555"/>
            <a:ext cx="2804160" cy="1962150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 w="7620">
            <a:solidFill>
              <a:srgbClr val="E4EAF0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867775" y="2447925"/>
            <a:ext cx="552450" cy="552450"/>
          </a:xfrm>
          <a:prstGeom prst="roundRect">
            <a:avLst>
              <a:gd name="adj" fmla="val 25862"/>
            </a:avLst>
          </a:prstGeom>
          <a:solidFill>
            <a:srgbClr val="E7F5EF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10650" y="2590800"/>
            <a:ext cx="266700" cy="2667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326237" y="3133725"/>
            <a:ext cx="1635407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</a:t>
            </a:r>
            <a:endParaRPr lang="en-US" sz="1950" dirty="0"/>
          </a:p>
        </p:txBody>
      </p:sp>
      <p:sp>
        <p:nvSpPr>
          <p:cNvPr id="22" name="Text 15"/>
          <p:cNvSpPr/>
          <p:nvPr/>
        </p:nvSpPr>
        <p:spPr>
          <a:xfrm>
            <a:off x="8789158" y="3583305"/>
            <a:ext cx="74435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6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79431" y="2973705"/>
            <a:ext cx="323850" cy="32385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11136631" y="2154555"/>
            <a:ext cx="2804160" cy="1962150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 w="7620">
            <a:solidFill>
              <a:srgbClr val="E4EAF0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12262485" y="2447925"/>
            <a:ext cx="552450" cy="552450"/>
          </a:xfrm>
          <a:prstGeom prst="roundRect">
            <a:avLst>
              <a:gd name="adj" fmla="val 25862"/>
            </a:avLst>
          </a:prstGeom>
          <a:solidFill>
            <a:srgbClr val="E7F5EF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405360" y="2590800"/>
            <a:ext cx="266700" cy="2667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1610337" y="3114675"/>
            <a:ext cx="187141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1950" dirty="0"/>
          </a:p>
        </p:txBody>
      </p:sp>
      <p:sp>
        <p:nvSpPr>
          <p:cNvPr id="28" name="Text 19"/>
          <p:cNvSpPr/>
          <p:nvPr/>
        </p:nvSpPr>
        <p:spPr>
          <a:xfrm>
            <a:off x="12070081" y="3549015"/>
            <a:ext cx="93726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65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074140" y="2973705"/>
            <a:ext cx="323850" cy="323850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14531340" y="2154555"/>
            <a:ext cx="2804160" cy="1962150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 w="7620">
            <a:solidFill>
              <a:srgbClr val="E4EAF0"/>
            </a:solidFill>
            <a:prstDash val="solid"/>
          </a:ln>
        </p:spPr>
      </p:sp>
      <p:sp>
        <p:nvSpPr>
          <p:cNvPr id="31" name="Shape 21"/>
          <p:cNvSpPr/>
          <p:nvPr/>
        </p:nvSpPr>
        <p:spPr>
          <a:xfrm>
            <a:off x="15657195" y="2447925"/>
            <a:ext cx="552450" cy="552450"/>
          </a:xfrm>
          <a:prstGeom prst="roundRect">
            <a:avLst>
              <a:gd name="adj" fmla="val 25862"/>
            </a:avLst>
          </a:prstGeom>
          <a:solidFill>
            <a:srgbClr val="E7F5EF"/>
          </a:solidFill>
          <a:ln/>
        </p:spPr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5800070" y="2590800"/>
            <a:ext cx="266700" cy="26670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15002988" y="3114675"/>
            <a:ext cx="186074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950" dirty="0"/>
          </a:p>
        </p:txBody>
      </p:sp>
      <p:sp>
        <p:nvSpPr>
          <p:cNvPr id="34" name="Text 23"/>
          <p:cNvSpPr/>
          <p:nvPr/>
        </p:nvSpPr>
        <p:spPr>
          <a:xfrm>
            <a:off x="15513964" y="3549015"/>
            <a:ext cx="83879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1650" dirty="0"/>
          </a:p>
        </p:txBody>
      </p:sp>
      <p:sp>
        <p:nvSpPr>
          <p:cNvPr id="35" name="Shape 24"/>
          <p:cNvSpPr/>
          <p:nvPr/>
        </p:nvSpPr>
        <p:spPr>
          <a:xfrm>
            <a:off x="952500" y="4535805"/>
            <a:ext cx="6364605" cy="2727960"/>
          </a:xfrm>
          <a:prstGeom prst="roundRect">
            <a:avLst>
              <a:gd name="adj" fmla="val 6285"/>
            </a:avLst>
          </a:prstGeom>
          <a:solidFill>
            <a:srgbClr val="FFFFFF"/>
          </a:solidFill>
          <a:ln w="7620">
            <a:solidFill>
              <a:srgbClr val="E4EAF0"/>
            </a:solidFill>
            <a:prstDash val="solid"/>
          </a:ln>
        </p:spPr>
      </p:sp>
      <p:sp>
        <p:nvSpPr>
          <p:cNvPr id="36" name="Text 25"/>
          <p:cNvSpPr/>
          <p:nvPr/>
        </p:nvSpPr>
        <p:spPr>
          <a:xfrm>
            <a:off x="1283970" y="4848225"/>
            <a:ext cx="627183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0E9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</a:t>
            </a:r>
            <a:endParaRPr lang="en-US" sz="1800" dirty="0"/>
          </a:p>
        </p:txBody>
      </p:sp>
      <p:sp>
        <p:nvSpPr>
          <p:cNvPr id="37" name="Text 26"/>
          <p:cNvSpPr/>
          <p:nvPr/>
        </p:nvSpPr>
        <p:spPr>
          <a:xfrm>
            <a:off x="1364933" y="5259705"/>
            <a:ext cx="5696903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66688" indent="-166688" algn="l">
              <a:lnSpc>
                <a:spcPct val="134549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3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missing values</a:t>
            </a:r>
            <a:endParaRPr lang="en-US" sz="1875" dirty="0"/>
          </a:p>
          <a:p>
            <a:pPr marL="166688" indent="-166688" algn="l">
              <a:lnSpc>
                <a:spcPct val="134549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3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Converted blank anemia values to SQL NULL</a:t>
            </a:r>
            <a:endParaRPr lang="en-US" sz="1875" dirty="0"/>
          </a:p>
          <a:p>
            <a:pPr marL="166688" indent="-166688" algn="l">
              <a:lnSpc>
                <a:spcPct val="134549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3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 missing anemia observations</a:t>
            </a:r>
            <a:endParaRPr lang="en-US" sz="1875" dirty="0"/>
          </a:p>
        </p:txBody>
      </p:sp>
      <p:sp>
        <p:nvSpPr>
          <p:cNvPr id="38" name="Shape 27"/>
          <p:cNvSpPr/>
          <p:nvPr/>
        </p:nvSpPr>
        <p:spPr>
          <a:xfrm>
            <a:off x="7621905" y="4535805"/>
            <a:ext cx="4704397" cy="2727960"/>
          </a:xfrm>
          <a:prstGeom prst="roundRect">
            <a:avLst>
              <a:gd name="adj" fmla="val 6285"/>
            </a:avLst>
          </a:prstGeom>
          <a:solidFill>
            <a:srgbClr val="FFFFFF"/>
          </a:solidFill>
          <a:ln w="7620">
            <a:solidFill>
              <a:srgbClr val="E4EAF0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7953375" y="4848225"/>
            <a:ext cx="444560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0E9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800" dirty="0"/>
          </a:p>
        </p:txBody>
      </p:sp>
      <p:sp>
        <p:nvSpPr>
          <p:cNvPr id="40" name="Shape 29"/>
          <p:cNvSpPr/>
          <p:nvPr/>
        </p:nvSpPr>
        <p:spPr>
          <a:xfrm>
            <a:off x="7953375" y="5259705"/>
            <a:ext cx="966907" cy="4876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/>
        </p:spPr>
      </p:sp>
      <p:sp>
        <p:nvSpPr>
          <p:cNvPr id="41" name="Text 30"/>
          <p:cNvSpPr/>
          <p:nvPr/>
        </p:nvSpPr>
        <p:spPr>
          <a:xfrm>
            <a:off x="8162925" y="5354955"/>
            <a:ext cx="62400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800" dirty="0"/>
          </a:p>
        </p:txBody>
      </p:sp>
      <p:sp>
        <p:nvSpPr>
          <p:cNvPr id="42" name="Shape 31"/>
          <p:cNvSpPr/>
          <p:nvPr/>
        </p:nvSpPr>
        <p:spPr>
          <a:xfrm>
            <a:off x="9034582" y="5259705"/>
            <a:ext cx="1127998" cy="4876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/>
        </p:spPr>
      </p:sp>
      <p:sp>
        <p:nvSpPr>
          <p:cNvPr id="43" name="Text 32"/>
          <p:cNvSpPr/>
          <p:nvPr/>
        </p:nvSpPr>
        <p:spPr>
          <a:xfrm>
            <a:off x="9244132" y="5354955"/>
            <a:ext cx="91844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800" dirty="0"/>
          </a:p>
        </p:txBody>
      </p:sp>
      <p:sp>
        <p:nvSpPr>
          <p:cNvPr id="44" name="Shape 33"/>
          <p:cNvSpPr/>
          <p:nvPr/>
        </p:nvSpPr>
        <p:spPr>
          <a:xfrm>
            <a:off x="10276880" y="5259705"/>
            <a:ext cx="1358503" cy="4876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/>
        </p:spPr>
      </p:sp>
      <p:sp>
        <p:nvSpPr>
          <p:cNvPr id="45" name="Text 34"/>
          <p:cNvSpPr/>
          <p:nvPr/>
        </p:nvSpPr>
        <p:spPr>
          <a:xfrm>
            <a:off x="10486430" y="5354955"/>
            <a:ext cx="101560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800" dirty="0"/>
          </a:p>
        </p:txBody>
      </p:sp>
      <p:sp>
        <p:nvSpPr>
          <p:cNvPr id="46" name="Shape 35"/>
          <p:cNvSpPr/>
          <p:nvPr/>
        </p:nvSpPr>
        <p:spPr>
          <a:xfrm>
            <a:off x="12631102" y="4535805"/>
            <a:ext cx="4704397" cy="2727960"/>
          </a:xfrm>
          <a:prstGeom prst="roundRect">
            <a:avLst>
              <a:gd name="adj" fmla="val 6285"/>
            </a:avLst>
          </a:prstGeom>
          <a:solidFill>
            <a:srgbClr val="FFFFFF"/>
          </a:solidFill>
          <a:ln w="7620">
            <a:solidFill>
              <a:srgbClr val="E4EAF0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12962573" y="4848225"/>
            <a:ext cx="444560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0E9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</a:t>
            </a:r>
            <a:endParaRPr lang="en-US" sz="1800" dirty="0"/>
          </a:p>
        </p:txBody>
      </p:sp>
      <p:sp>
        <p:nvSpPr>
          <p:cNvPr id="48" name="Shape 37"/>
          <p:cNvSpPr/>
          <p:nvPr/>
        </p:nvSpPr>
        <p:spPr>
          <a:xfrm>
            <a:off x="12962573" y="5259705"/>
            <a:ext cx="2729865" cy="4876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/>
        </p:spPr>
      </p:sp>
      <p:sp>
        <p:nvSpPr>
          <p:cNvPr id="49" name="Text 38"/>
          <p:cNvSpPr/>
          <p:nvPr/>
        </p:nvSpPr>
        <p:spPr>
          <a:xfrm>
            <a:off x="13172123" y="5354955"/>
            <a:ext cx="239266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distribution</a:t>
            </a:r>
            <a:endParaRPr lang="en-US" sz="1800" dirty="0"/>
          </a:p>
        </p:txBody>
      </p:sp>
      <p:sp>
        <p:nvSpPr>
          <p:cNvPr id="50" name="Shape 39"/>
          <p:cNvSpPr/>
          <p:nvPr/>
        </p:nvSpPr>
        <p:spPr>
          <a:xfrm>
            <a:off x="12962573" y="5861685"/>
            <a:ext cx="2126337" cy="4876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/>
        </p:spPr>
      </p:sp>
      <p:sp>
        <p:nvSpPr>
          <p:cNvPr id="51" name="Text 40"/>
          <p:cNvSpPr/>
          <p:nvPr/>
        </p:nvSpPr>
        <p:spPr>
          <a:xfrm>
            <a:off x="13172123" y="5956935"/>
            <a:ext cx="178343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Cross-tabulation</a:t>
            </a:r>
            <a:endParaRPr lang="en-US" sz="1800" dirty="0"/>
          </a:p>
        </p:txBody>
      </p:sp>
      <p:sp>
        <p:nvSpPr>
          <p:cNvPr id="52" name="Shape 41"/>
          <p:cNvSpPr/>
          <p:nvPr/>
        </p:nvSpPr>
        <p:spPr>
          <a:xfrm>
            <a:off x="12962573" y="6463665"/>
            <a:ext cx="2458283" cy="48768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/>
        </p:spPr>
      </p:sp>
      <p:sp>
        <p:nvSpPr>
          <p:cNvPr id="53" name="Text 42"/>
          <p:cNvSpPr/>
          <p:nvPr/>
        </p:nvSpPr>
        <p:spPr>
          <a:xfrm>
            <a:off x="13172123" y="6558915"/>
            <a:ext cx="211538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analysis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3686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0E9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397317" y="882015"/>
            <a:ext cx="381000" cy="19050"/>
          </a:xfrm>
          <a:prstGeom prst="rect">
            <a:avLst/>
          </a:prstGeom>
          <a:solidFill>
            <a:srgbClr val="0E9B6C"/>
          </a:solidFill>
          <a:ln/>
        </p:spPr>
      </p:sp>
      <p:sp>
        <p:nvSpPr>
          <p:cNvPr id="4" name="Text 2"/>
          <p:cNvSpPr/>
          <p:nvPr/>
        </p:nvSpPr>
        <p:spPr>
          <a:xfrm>
            <a:off x="1930717" y="762000"/>
            <a:ext cx="23820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· RQ1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173480"/>
            <a:ext cx="18021300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045"/>
              </a:lnSpc>
              <a:buNone/>
            </a:pPr>
            <a:r>
              <a:rPr lang="en-US" sz="4050" b="1" kern="0" spc="-37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Maternal education &amp; child anemia</a:t>
            </a:r>
            <a:endParaRPr lang="en-US" sz="4050" dirty="0"/>
          </a:p>
        </p:txBody>
      </p:sp>
      <p:sp>
        <p:nvSpPr>
          <p:cNvPr id="6" name="Shape 4"/>
          <p:cNvSpPr/>
          <p:nvPr/>
        </p:nvSpPr>
        <p:spPr>
          <a:xfrm>
            <a:off x="952500" y="2037398"/>
            <a:ext cx="9201150" cy="7487603"/>
          </a:xfrm>
          <a:prstGeom prst="roundRect">
            <a:avLst>
              <a:gd name="adj" fmla="val 2544"/>
            </a:avLst>
          </a:prstGeom>
          <a:solidFill>
            <a:srgbClr val="F8FAFC"/>
          </a:solidFill>
          <a:ln w="15240">
            <a:solidFill>
              <a:srgbClr val="C9D6E2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0534650" y="2037398"/>
            <a:ext cx="6800850" cy="2516505"/>
          </a:xfrm>
          <a:prstGeom prst="roundRect">
            <a:avLst>
              <a:gd name="adj" fmla="val 7570"/>
            </a:avLst>
          </a:prstGeom>
          <a:solidFill>
            <a:srgbClr val="0C1B2E"/>
          </a:solidFill>
          <a:ln/>
        </p:spPr>
      </p:sp>
      <p:sp>
        <p:nvSpPr>
          <p:cNvPr id="8" name="Text 6"/>
          <p:cNvSpPr/>
          <p:nvPr/>
        </p:nvSpPr>
        <p:spPr>
          <a:xfrm>
            <a:off x="10877550" y="2361248"/>
            <a:ext cx="49541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4200" b="1" dirty="0">
                <a:solidFill>
                  <a:srgbClr val="7FD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51.89%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0877550" y="2932747"/>
            <a:ext cx="495415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B7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education — highest non-anemic share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10877550" y="3367088"/>
            <a:ext cx="6115050" cy="9525"/>
          </a:xfrm>
          <a:prstGeom prst="rect">
            <a:avLst/>
          </a:prstGeom>
          <a:solidFill>
            <a:srgbClr val="22384F"/>
          </a:solidFill>
          <a:ln/>
        </p:spPr>
      </p:sp>
      <p:sp>
        <p:nvSpPr>
          <p:cNvPr id="11" name="Text 9"/>
          <p:cNvSpPr/>
          <p:nvPr/>
        </p:nvSpPr>
        <p:spPr>
          <a:xfrm>
            <a:off x="10877550" y="3529013"/>
            <a:ext cx="67265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207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36.00%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0877550" y="3948112"/>
            <a:ext cx="672655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formal education — lowest non-anemic share</a:t>
            </a:r>
            <a:endParaRPr lang="en-US" sz="1725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34650" y="4782503"/>
            <a:ext cx="266700" cy="266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953750" y="4763453"/>
            <a:ext cx="6573203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3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non-anemic proportion rises steadily with each level of maternal education.</a:t>
            </a:r>
            <a:endParaRPr lang="en-US" sz="2025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34650" y="5712143"/>
            <a:ext cx="266700" cy="2667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953750" y="5693093"/>
            <a:ext cx="6573203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3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Maternal education appears positively associated with better child health outcomes.</a:t>
            </a:r>
            <a:endParaRPr lang="en-US" sz="2025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272996B-AE36-C21D-C65A-3E544D30C2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2024063"/>
            <a:ext cx="9429750" cy="75009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3686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0E9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397317" y="882015"/>
            <a:ext cx="381000" cy="19050"/>
          </a:xfrm>
          <a:prstGeom prst="rect">
            <a:avLst/>
          </a:prstGeom>
          <a:solidFill>
            <a:srgbClr val="0E9B6C"/>
          </a:solidFill>
          <a:ln/>
        </p:spPr>
      </p:sp>
      <p:sp>
        <p:nvSpPr>
          <p:cNvPr id="4" name="Text 2"/>
          <p:cNvSpPr/>
          <p:nvPr/>
        </p:nvSpPr>
        <p:spPr>
          <a:xfrm>
            <a:off x="1930717" y="762000"/>
            <a:ext cx="23820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· RQ2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173480"/>
            <a:ext cx="18021300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045"/>
              </a:lnSpc>
              <a:buNone/>
            </a:pPr>
            <a:r>
              <a:rPr lang="en-US" sz="4050" b="1" kern="0" spc="-37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 wealth &amp; child anemia</a:t>
            </a:r>
            <a:endParaRPr lang="en-US" sz="4050" dirty="0"/>
          </a:p>
        </p:txBody>
      </p:sp>
      <p:sp>
        <p:nvSpPr>
          <p:cNvPr id="6" name="Shape 4"/>
          <p:cNvSpPr/>
          <p:nvPr/>
        </p:nvSpPr>
        <p:spPr>
          <a:xfrm>
            <a:off x="952500" y="2037398"/>
            <a:ext cx="9201150" cy="7487603"/>
          </a:xfrm>
          <a:prstGeom prst="roundRect">
            <a:avLst>
              <a:gd name="adj" fmla="val 2544"/>
            </a:avLst>
          </a:prstGeom>
          <a:solidFill>
            <a:srgbClr val="F8FAFC"/>
          </a:solidFill>
          <a:ln w="15240">
            <a:solidFill>
              <a:srgbClr val="C9D6E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0534650" y="2037398"/>
            <a:ext cx="6800850" cy="2516505"/>
          </a:xfrm>
          <a:prstGeom prst="roundRect">
            <a:avLst>
              <a:gd name="adj" fmla="val 7570"/>
            </a:avLst>
          </a:prstGeom>
          <a:solidFill>
            <a:srgbClr val="0C1B2E"/>
          </a:solidFill>
          <a:ln/>
        </p:spPr>
      </p:sp>
      <p:sp>
        <p:nvSpPr>
          <p:cNvPr id="8" name="Text 6"/>
          <p:cNvSpPr/>
          <p:nvPr/>
        </p:nvSpPr>
        <p:spPr>
          <a:xfrm>
            <a:off x="10877550" y="2361248"/>
            <a:ext cx="67265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4200" b="1" dirty="0">
                <a:solidFill>
                  <a:srgbClr val="7FD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52.29%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0877550" y="2932747"/>
            <a:ext cx="672655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B7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Richest households — highest non-anemic share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10877550" y="3367088"/>
            <a:ext cx="6115050" cy="9525"/>
          </a:xfrm>
          <a:prstGeom prst="rect">
            <a:avLst/>
          </a:prstGeom>
          <a:solidFill>
            <a:srgbClr val="22384F"/>
          </a:solidFill>
          <a:ln/>
        </p:spPr>
      </p:sp>
      <p:sp>
        <p:nvSpPr>
          <p:cNvPr id="11" name="Text 9"/>
          <p:cNvSpPr/>
          <p:nvPr/>
        </p:nvSpPr>
        <p:spPr>
          <a:xfrm>
            <a:off x="10877550" y="3529013"/>
            <a:ext cx="67265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207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39.20%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0877550" y="3948112"/>
            <a:ext cx="672655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Poorest households — lowest non-anemic share</a:t>
            </a:r>
            <a:endParaRPr lang="en-US" sz="1725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34650" y="4782503"/>
            <a:ext cx="266700" cy="266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953750" y="4763453"/>
            <a:ext cx="6573203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3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non-anemic proportion increases across each step of the wealth index.</a:t>
            </a:r>
            <a:endParaRPr lang="en-US" sz="2025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34650" y="5712143"/>
            <a:ext cx="266700" cy="2667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953750" y="5693093"/>
            <a:ext cx="6573203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025" dirty="0">
                <a:solidFill>
                  <a:srgbClr val="3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 wealth appears positively associated with better child health.</a:t>
            </a:r>
            <a:endParaRPr lang="en-US" sz="2025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1467E59-8B95-6BF6-5FA5-A70BB5CC1C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604" y="2024063"/>
            <a:ext cx="9142635" cy="74876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3686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0E9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397317" y="958215"/>
            <a:ext cx="381000" cy="19050"/>
          </a:xfrm>
          <a:prstGeom prst="rect">
            <a:avLst/>
          </a:prstGeom>
          <a:solidFill>
            <a:srgbClr val="0E9B6C"/>
          </a:solidFill>
          <a:ln/>
        </p:spPr>
      </p:sp>
      <p:sp>
        <p:nvSpPr>
          <p:cNvPr id="4" name="Text 2"/>
          <p:cNvSpPr/>
          <p:nvPr/>
        </p:nvSpPr>
        <p:spPr>
          <a:xfrm>
            <a:off x="1930717" y="838200"/>
            <a:ext cx="150090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249680"/>
            <a:ext cx="180213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570"/>
              </a:lnSpc>
              <a:buNone/>
            </a:pPr>
            <a:r>
              <a:rPr lang="en-US" sz="4500" b="1" kern="0" spc="-37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952500" y="2230755"/>
            <a:ext cx="8048625" cy="3466147"/>
          </a:xfrm>
          <a:prstGeom prst="roundRect">
            <a:avLst>
              <a:gd name="adj" fmla="val 5496"/>
            </a:avLst>
          </a:prstGeom>
          <a:solidFill>
            <a:srgbClr val="FFFFFF"/>
          </a:solidFill>
          <a:ln w="7620">
            <a:solidFill>
              <a:srgbClr val="E4EA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60170" y="261937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7F5E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3520" y="2752725"/>
            <a:ext cx="26670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41220" y="2619375"/>
            <a:ext cx="6645802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3295"/>
              </a:lnSpc>
              <a:buNone/>
            </a:pPr>
            <a:r>
              <a:rPr lang="en-US" sz="3200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maternal education is associated with a higher proportion of non-anemic children.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9286875" y="2230755"/>
            <a:ext cx="8048625" cy="3466147"/>
          </a:xfrm>
          <a:prstGeom prst="roundRect">
            <a:avLst>
              <a:gd name="adj" fmla="val 5496"/>
            </a:avLst>
          </a:prstGeom>
          <a:solidFill>
            <a:srgbClr val="FFFFFF"/>
          </a:solidFill>
          <a:ln w="7620">
            <a:solidFill>
              <a:srgbClr val="E4EA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4545" y="261937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7F5E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7895" y="2752725"/>
            <a:ext cx="266700" cy="2667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475595" y="2619375"/>
            <a:ext cx="6645802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3295"/>
              </a:lnSpc>
              <a:buNone/>
            </a:pPr>
            <a:r>
              <a:rPr lang="en-US" sz="3200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Wealthier households recorded consistently better child anemia outcomes.</a:t>
            </a:r>
            <a:endParaRPr lang="en-US" sz="3200" dirty="0"/>
          </a:p>
        </p:txBody>
      </p:sp>
      <p:sp>
        <p:nvSpPr>
          <p:cNvPr id="14" name="Shape 10"/>
          <p:cNvSpPr/>
          <p:nvPr/>
        </p:nvSpPr>
        <p:spPr>
          <a:xfrm>
            <a:off x="952500" y="5982653"/>
            <a:ext cx="8048625" cy="3466147"/>
          </a:xfrm>
          <a:prstGeom prst="roundRect">
            <a:avLst>
              <a:gd name="adj" fmla="val 5496"/>
            </a:avLst>
          </a:prstGeom>
          <a:solidFill>
            <a:srgbClr val="FFFFFF"/>
          </a:solidFill>
          <a:ln w="7620">
            <a:solidFill>
              <a:srgbClr val="E4EA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360170" y="6371273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7F5E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3520" y="6504623"/>
            <a:ext cx="266700" cy="2667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41220" y="6371273"/>
            <a:ext cx="6645802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3295"/>
              </a:lnSpc>
              <a:buNone/>
            </a:pPr>
            <a:r>
              <a:rPr lang="en-US" sz="3200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anemia remains common across all socioeconomic groups.</a:t>
            </a:r>
            <a:endParaRPr lang="en-US" sz="3200" dirty="0"/>
          </a:p>
        </p:txBody>
      </p:sp>
      <p:sp>
        <p:nvSpPr>
          <p:cNvPr id="18" name="Shape 13"/>
          <p:cNvSpPr/>
          <p:nvPr/>
        </p:nvSpPr>
        <p:spPr>
          <a:xfrm>
            <a:off x="9286875" y="5982653"/>
            <a:ext cx="8048625" cy="3466147"/>
          </a:xfrm>
          <a:prstGeom prst="roundRect">
            <a:avLst>
              <a:gd name="adj" fmla="val 5496"/>
            </a:avLst>
          </a:prstGeom>
          <a:solidFill>
            <a:srgbClr val="FFFFFF"/>
          </a:solidFill>
          <a:ln w="7620">
            <a:solidFill>
              <a:srgbClr val="E4EA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694545" y="6371273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7F5E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27895" y="6504623"/>
            <a:ext cx="266700" cy="2667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475595" y="6371273"/>
            <a:ext cx="6645802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3295"/>
              </a:lnSpc>
              <a:buNone/>
            </a:pPr>
            <a:r>
              <a:rPr lang="en-US" sz="3200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Socioeconomic inequalities may contribute to differences in child health.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3686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0E9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397317" y="958215"/>
            <a:ext cx="381000" cy="19050"/>
          </a:xfrm>
          <a:prstGeom prst="rect">
            <a:avLst/>
          </a:prstGeom>
          <a:solidFill>
            <a:srgbClr val="0E9B6C"/>
          </a:solidFill>
          <a:ln/>
        </p:spPr>
      </p:sp>
      <p:sp>
        <p:nvSpPr>
          <p:cNvPr id="4" name="Text 2"/>
          <p:cNvSpPr/>
          <p:nvPr/>
        </p:nvSpPr>
        <p:spPr>
          <a:xfrm>
            <a:off x="1930717" y="838200"/>
            <a:ext cx="306532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249680"/>
            <a:ext cx="180213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570"/>
              </a:lnSpc>
              <a:buNone/>
            </a:pPr>
            <a:r>
              <a:rPr lang="en-US" sz="4500" b="1" kern="0" spc="-37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act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952500" y="2230755"/>
            <a:ext cx="8029575" cy="7218045"/>
          </a:xfrm>
          <a:prstGeom prst="roundRect">
            <a:avLst>
              <a:gd name="adj" fmla="val 2903"/>
            </a:avLst>
          </a:prstGeom>
          <a:solidFill>
            <a:srgbClr val="F4F7FA"/>
          </a:solidFill>
          <a:ln w="7620">
            <a:solidFill>
              <a:srgbClr val="E4EA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98270" y="2657475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0C1B2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0670" y="2809875"/>
            <a:ext cx="285750" cy="2857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79320" y="2743200"/>
            <a:ext cx="219084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1471613" y="3533775"/>
            <a:ext cx="7140893" cy="1916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193358" indent="-193358" algn="l">
              <a:lnSpc>
                <a:spcPct val="146726"/>
              </a:lnSpc>
              <a:buSzPct val="100000"/>
              <a:buChar char="•"/>
              <a:tabLst>
                <a:tab pos="193358" algn="l"/>
              </a:tabLst>
            </a:pPr>
            <a:r>
              <a:rPr lang="en-US" sz="2800" dirty="0">
                <a:solidFill>
                  <a:srgbClr val="3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female education</a:t>
            </a:r>
            <a:endParaRPr lang="en-US" sz="2800" dirty="0"/>
          </a:p>
          <a:p>
            <a:pPr marL="193358" indent="-193358" algn="l">
              <a:lnSpc>
                <a:spcPct val="146726"/>
              </a:lnSpc>
              <a:buSzPct val="100000"/>
              <a:buChar char="•"/>
              <a:tabLst>
                <a:tab pos="193358" algn="l"/>
              </a:tabLst>
            </a:pPr>
            <a:r>
              <a:rPr lang="en-US" sz="2800" dirty="0">
                <a:solidFill>
                  <a:srgbClr val="3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maternal healthcare</a:t>
            </a:r>
            <a:endParaRPr lang="en-US" sz="2800" dirty="0"/>
          </a:p>
          <a:p>
            <a:pPr marL="193358" indent="-193358" algn="l">
              <a:lnSpc>
                <a:spcPct val="146726"/>
              </a:lnSpc>
              <a:buSzPct val="100000"/>
              <a:buChar char="•"/>
              <a:tabLst>
                <a:tab pos="193358" algn="l"/>
              </a:tabLst>
            </a:pPr>
            <a:r>
              <a:rPr lang="en-US" sz="2800" dirty="0">
                <a:solidFill>
                  <a:srgbClr val="3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nutrition programs</a:t>
            </a:r>
            <a:endParaRPr lang="en-US" sz="2800" dirty="0"/>
          </a:p>
          <a:p>
            <a:pPr marL="193358" indent="-193358" algn="l">
              <a:lnSpc>
                <a:spcPct val="146726"/>
              </a:lnSpc>
              <a:buSzPct val="100000"/>
              <a:buChar char="•"/>
              <a:tabLst>
                <a:tab pos="193358" algn="l"/>
              </a:tabLst>
            </a:pPr>
            <a:r>
              <a:rPr lang="en-US" sz="2800" dirty="0">
                <a:solidFill>
                  <a:srgbClr val="3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 poverty-reduction initiatives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9305925" y="2230755"/>
            <a:ext cx="8029575" cy="7218045"/>
          </a:xfrm>
          <a:prstGeom prst="roundRect">
            <a:avLst>
              <a:gd name="adj" fmla="val 2903"/>
            </a:avLst>
          </a:prstGeom>
          <a:solidFill>
            <a:srgbClr val="F4F7FA"/>
          </a:solidFill>
          <a:ln w="7620">
            <a:solidFill>
              <a:srgbClr val="E4EA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751695" y="2657475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0E9B6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04095" y="2809875"/>
            <a:ext cx="285750" cy="2857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32745" y="2743200"/>
            <a:ext cx="236752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NGOs</a:t>
            </a:r>
            <a:endParaRPr lang="en-US" sz="2850" dirty="0"/>
          </a:p>
        </p:txBody>
      </p:sp>
      <p:sp>
        <p:nvSpPr>
          <p:cNvPr id="15" name="Text 11"/>
          <p:cNvSpPr/>
          <p:nvPr/>
        </p:nvSpPr>
        <p:spPr>
          <a:xfrm>
            <a:off x="9825038" y="3533775"/>
            <a:ext cx="7140893" cy="1916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193358" indent="-193358" algn="l">
              <a:lnSpc>
                <a:spcPct val="146726"/>
              </a:lnSpc>
              <a:buSzPct val="100000"/>
              <a:buChar char="•"/>
              <a:tabLst>
                <a:tab pos="193358" algn="l"/>
              </a:tabLst>
            </a:pPr>
            <a:r>
              <a:rPr lang="en-US" sz="3200" dirty="0">
                <a:solidFill>
                  <a:srgbClr val="3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nutrition education toward low-income households</a:t>
            </a:r>
            <a:endParaRPr lang="en-US" sz="3200" dirty="0"/>
          </a:p>
          <a:p>
            <a:pPr marL="193358" indent="-193358" algn="l">
              <a:lnSpc>
                <a:spcPct val="146726"/>
              </a:lnSpc>
              <a:buSzPct val="100000"/>
              <a:buChar char="•"/>
              <a:tabLst>
                <a:tab pos="193358" algn="l"/>
              </a:tabLst>
            </a:pPr>
            <a:r>
              <a:rPr lang="en-US" sz="3200" dirty="0">
                <a:solidFill>
                  <a:srgbClr val="3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anemia screening</a:t>
            </a:r>
            <a:endParaRPr lang="en-US" sz="3200" dirty="0"/>
          </a:p>
          <a:p>
            <a:pPr marL="193358" indent="-193358" algn="l">
              <a:lnSpc>
                <a:spcPct val="146726"/>
              </a:lnSpc>
              <a:buSzPct val="100000"/>
              <a:buChar char="•"/>
              <a:tabLst>
                <a:tab pos="193358" algn="l"/>
              </a:tabLst>
            </a:pPr>
            <a:r>
              <a:rPr lang="en-US" sz="3200" dirty="0">
                <a:solidFill>
                  <a:srgbClr val="3E4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iron supplementation programs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516505"/>
            <a:ext cx="3686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0E9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492567" y="2636520"/>
            <a:ext cx="381000" cy="19050"/>
          </a:xfrm>
          <a:prstGeom prst="rect">
            <a:avLst/>
          </a:prstGeom>
          <a:solidFill>
            <a:srgbClr val="0E9B6C"/>
          </a:solidFill>
          <a:ln/>
        </p:spPr>
      </p:sp>
      <p:sp>
        <p:nvSpPr>
          <p:cNvPr id="4" name="Text 2"/>
          <p:cNvSpPr/>
          <p:nvPr/>
        </p:nvSpPr>
        <p:spPr>
          <a:xfrm>
            <a:off x="2025967" y="2516505"/>
            <a:ext cx="199098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3042285"/>
            <a:ext cx="14716125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847"/>
              </a:lnSpc>
              <a:buNone/>
            </a:pPr>
            <a:r>
              <a:rPr lang="en-US" sz="3750" kern="0" spc="-3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Maternal education and household wealth are both associated with childhood anemia — children of wealthier households and better-educated mothers showed higher non-anemic proportions.</a:t>
            </a:r>
            <a:endParaRPr lang="en-US" sz="3750" dirty="0"/>
          </a:p>
        </p:txBody>
      </p:sp>
      <p:sp>
        <p:nvSpPr>
          <p:cNvPr id="6" name="Shape 4"/>
          <p:cNvSpPr/>
          <p:nvPr/>
        </p:nvSpPr>
        <p:spPr>
          <a:xfrm>
            <a:off x="1047750" y="6033135"/>
            <a:ext cx="4267200" cy="1737360"/>
          </a:xfrm>
          <a:prstGeom prst="roundRect">
            <a:avLst>
              <a:gd name="adj" fmla="val 9868"/>
            </a:avLst>
          </a:prstGeom>
          <a:solidFill>
            <a:srgbClr val="12263F"/>
          </a:solidFill>
          <a:ln/>
        </p:spPr>
      </p:sp>
      <p:sp>
        <p:nvSpPr>
          <p:cNvPr id="7" name="Text 5"/>
          <p:cNvSpPr/>
          <p:nvPr/>
        </p:nvSpPr>
        <p:spPr>
          <a:xfrm>
            <a:off x="1390650" y="6356985"/>
            <a:ext cx="39395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7FD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↑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90650" y="6779895"/>
            <a:ext cx="368884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1528"/>
              </a:lnSpc>
              <a:buNone/>
            </a:pPr>
            <a:r>
              <a:rPr lang="en-US" sz="2000" dirty="0">
                <a:solidFill>
                  <a:srgbClr val="B7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maternal schooling, healthier children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581650" y="6033135"/>
            <a:ext cx="4267200" cy="1737360"/>
          </a:xfrm>
          <a:prstGeom prst="roundRect">
            <a:avLst>
              <a:gd name="adj" fmla="val 9868"/>
            </a:avLst>
          </a:prstGeom>
          <a:solidFill>
            <a:srgbClr val="12263F"/>
          </a:solidFill>
          <a:ln/>
        </p:spPr>
      </p:sp>
      <p:sp>
        <p:nvSpPr>
          <p:cNvPr id="10" name="Text 8"/>
          <p:cNvSpPr/>
          <p:nvPr/>
        </p:nvSpPr>
        <p:spPr>
          <a:xfrm>
            <a:off x="5924550" y="6356985"/>
            <a:ext cx="39395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7FD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 ↑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924550" y="6779895"/>
            <a:ext cx="368884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1528"/>
              </a:lnSpc>
              <a:buNone/>
            </a:pPr>
            <a:r>
              <a:rPr lang="en-US" sz="2000" dirty="0">
                <a:solidFill>
                  <a:srgbClr val="B7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economic status, better outcomes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115550" y="6033135"/>
            <a:ext cx="4267200" cy="1737360"/>
          </a:xfrm>
          <a:prstGeom prst="roundRect">
            <a:avLst>
              <a:gd name="adj" fmla="val 9868"/>
            </a:avLst>
          </a:prstGeom>
          <a:solidFill>
            <a:srgbClr val="12263F"/>
          </a:solidFill>
          <a:ln/>
        </p:spPr>
      </p:sp>
      <p:sp>
        <p:nvSpPr>
          <p:cNvPr id="13" name="Text 11"/>
          <p:cNvSpPr/>
          <p:nvPr/>
        </p:nvSpPr>
        <p:spPr>
          <a:xfrm>
            <a:off x="10458450" y="6356985"/>
            <a:ext cx="39395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7FD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Anemia ↓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458450" y="6779895"/>
            <a:ext cx="368884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1528"/>
              </a:lnSpc>
              <a:buNone/>
            </a:pPr>
            <a:r>
              <a:rPr lang="en-US" sz="2000" dirty="0">
                <a:solidFill>
                  <a:srgbClr val="B7C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target for education and poverty policy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1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82500" y="6096000"/>
            <a:ext cx="5905500" cy="4191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47750" y="3464243"/>
            <a:ext cx="609600" cy="28575"/>
          </a:xfrm>
          <a:prstGeom prst="rect">
            <a:avLst/>
          </a:prstGeom>
          <a:solidFill>
            <a:srgbClr val="0E9B6C"/>
          </a:solidFill>
          <a:ln/>
        </p:spPr>
      </p:sp>
      <p:sp>
        <p:nvSpPr>
          <p:cNvPr id="4" name="Text 1"/>
          <p:cNvSpPr/>
          <p:nvPr/>
        </p:nvSpPr>
        <p:spPr>
          <a:xfrm>
            <a:off x="1047750" y="3816668"/>
            <a:ext cx="1781175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302"/>
              </a:lnSpc>
              <a:buNone/>
            </a:pPr>
            <a:r>
              <a:rPr lang="en-US" sz="9900" b="1" kern="0" spc="-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9900" dirty="0"/>
          </a:p>
        </p:txBody>
      </p:sp>
      <p:sp>
        <p:nvSpPr>
          <p:cNvPr id="5" name="Text 2"/>
          <p:cNvSpPr/>
          <p:nvPr/>
        </p:nvSpPr>
        <p:spPr>
          <a:xfrm>
            <a:off x="1047750" y="5416868"/>
            <a:ext cx="17811750" cy="57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7FD3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1047750" y="6472238"/>
            <a:ext cx="1781175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 err="1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Ejeh</a:t>
            </a:r>
            <a:r>
              <a:rPr lang="en-US" sz="210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00" dirty="0" err="1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Ehi</a:t>
            </a:r>
            <a:r>
              <a:rPr lang="en-US" sz="210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Oluwa-</a:t>
            </a:r>
            <a:r>
              <a:rPr lang="en-US" sz="2100" dirty="0" err="1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Tosin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752</Words>
  <Application>Microsoft Office PowerPoint</Application>
  <PresentationFormat>Custom</PresentationFormat>
  <Paragraphs>138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finddebytee2000@gmail.com</cp:lastModifiedBy>
  <cp:revision>2</cp:revision>
  <dcterms:created xsi:type="dcterms:W3CDTF">2026-07-15T21:58:43Z</dcterms:created>
  <dcterms:modified xsi:type="dcterms:W3CDTF">2026-07-15T22:11:17Z</dcterms:modified>
</cp:coreProperties>
</file>